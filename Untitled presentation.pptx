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80" r:id="rId5"/>
    <p:sldMasterId id="2147483681" r:id="rId6"/>
    <p:sldMasterId id="2147483682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7894136-BBB9-4F0C-8CB7-220454C649B2}">
  <a:tblStyle styleId="{B7894136-BBB9-4F0C-8CB7-220454C649B2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2.xml"/><Relationship Id="rId22" Type="http://schemas.openxmlformats.org/officeDocument/2006/relationships/slide" Target="slides/slide14.xml"/><Relationship Id="rId21" Type="http://schemas.openxmlformats.org/officeDocument/2006/relationships/slide" Target="slides/slide13.xml"/><Relationship Id="rId24" Type="http://schemas.openxmlformats.org/officeDocument/2006/relationships/slide" Target="slides/slide16.xml"/><Relationship Id="rId23" Type="http://schemas.openxmlformats.org/officeDocument/2006/relationships/slide" Target="slides/slide15.xml"/><Relationship Id="rId1" Type="http://schemas.openxmlformats.org/officeDocument/2006/relationships/theme" Target="theme/theme4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1.xml"/><Relationship Id="rId26" Type="http://schemas.openxmlformats.org/officeDocument/2006/relationships/slide" Target="slides/slide18.xml"/><Relationship Id="rId25" Type="http://schemas.openxmlformats.org/officeDocument/2006/relationships/slide" Target="slides/slide17.xml"/><Relationship Id="rId28" Type="http://schemas.openxmlformats.org/officeDocument/2006/relationships/slide" Target="slides/slide20.xml"/><Relationship Id="rId27" Type="http://schemas.openxmlformats.org/officeDocument/2006/relationships/slide" Target="slides/slide19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slideMaster" Target="slideMasters/slideMaster3.xml"/><Relationship Id="rId8" Type="http://schemas.openxmlformats.org/officeDocument/2006/relationships/notesMaster" Target="notesMasters/notesMaster1.xml"/><Relationship Id="rId11" Type="http://schemas.openxmlformats.org/officeDocument/2006/relationships/slide" Target="slides/slide3.xml"/><Relationship Id="rId10" Type="http://schemas.openxmlformats.org/officeDocument/2006/relationships/slide" Target="slides/slide2.xml"/><Relationship Id="rId13" Type="http://schemas.openxmlformats.org/officeDocument/2006/relationships/slide" Target="slides/slide5.xml"/><Relationship Id="rId12" Type="http://schemas.openxmlformats.org/officeDocument/2006/relationships/slide" Target="slides/slide4.xml"/><Relationship Id="rId15" Type="http://schemas.openxmlformats.org/officeDocument/2006/relationships/slide" Target="slides/slide7.xml"/><Relationship Id="rId14" Type="http://schemas.openxmlformats.org/officeDocument/2006/relationships/slide" Target="slides/slide6.xml"/><Relationship Id="rId17" Type="http://schemas.openxmlformats.org/officeDocument/2006/relationships/slide" Target="slides/slide9.xml"/><Relationship Id="rId16" Type="http://schemas.openxmlformats.org/officeDocument/2006/relationships/slide" Target="slides/slide8.xml"/><Relationship Id="rId19" Type="http://schemas.openxmlformats.org/officeDocument/2006/relationships/slide" Target="slides/slide11.xml"/><Relationship Id="rId18" Type="http://schemas.openxmlformats.org/officeDocument/2006/relationships/slide" Target="slides/slide10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a14fdfd261_2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g3a14fdfd261_2_7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a14fdfd261_2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4" name="Google Shape;204;g3a14fdfd261_2_8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a14fdfd261_2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3" name="Google Shape;213;g3a14fdfd261_2_9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a14fdfd261_2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0" name="Google Shape;220;g3a14fdfd261_2_16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a14fdfd261_2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g3a14fdfd261_2_17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a14fdfd261_2_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4" name="Google Shape;234;g3a14fdfd261_2_17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a14fdfd261_2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2" name="Google Shape;242;g3a14fdfd261_2_18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a14fdfd261_2_1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9" name="Google Shape;249;g3a14fdfd261_2_19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a14fdfd261_2_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g3a14fdfd261_2_19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a14fdfd261_2_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g3a14fdfd261_2_20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a14fdfd261_2_20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0" name="Google Shape;270;g3a14fdfd261_2_2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a14fdfd261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3a14fdfd261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a14fdfd261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3a14fdfd261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a14fdfd261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3a14fdfd261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a14fdfd261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3a14fdfd261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a14fdfd261_2_2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g3a14fdfd261_2_2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a14fdfd261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3a14fdfd261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a14fdfd261_2_2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g3a14fdfd261_2_2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a14fdfd261_2_2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7" name="Google Shape;327;g3a14fdfd261_2_22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a14fdfd261_2_2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4" name="Google Shape;334;g3a14fdfd261_2_23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59" name="Google Shape;59;p1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1" name="Google Shape;71;p1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17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4" name="Google Shape;84;p18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5" name="Google Shape;85;p1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6" name="Google Shape;86;p18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7" name="Google Shape;87;p18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8" name="Google Shape;88;p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9" name="Google Shape;89;p1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4" name="Google Shape;94;p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6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3" name="Google Shape;133;p26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34" name="Google Shape;134;p2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5" name="Google Shape;135;p26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6" name="Google Shape;136;p26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7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9" name="Google Shape;139;p27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0" name="Google Shape;140;p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1" name="Google Shape;141;p2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2" name="Google Shape;142;p27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8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5" name="Google Shape;145;p28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46" name="Google Shape;146;p28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47" name="Google Shape;147;p28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8" name="Google Shape;148;p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9" name="Google Shape;149;p2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9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2" name="Google Shape;152;p29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53" name="Google Shape;153;p29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54" name="Google Shape;154;p29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55" name="Google Shape;155;p2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56" name="Google Shape;156;p29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7" name="Google Shape;157;p29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8" name="Google Shape;158;p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1" name="Google Shape;161;p3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2" name="Google Shape;162;p30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3" name="Google Shape;163;p30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6" name="Google Shape;166;p3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7" name="Google Shape;167;p31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2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0" name="Google Shape;170;p32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71" name="Google Shape;171;p32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72" name="Google Shape;172;p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3" name="Google Shape;173;p3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4" name="Google Shape;174;p3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7" name="Google Shape;177;p33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178" name="Google Shape;178;p33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79" name="Google Shape;179;p3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0" name="Google Shape;180;p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1" name="Google Shape;181;p3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4" name="Google Shape;184;p34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85" name="Google Shape;185;p3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6" name="Google Shape;186;p3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7" name="Google Shape;187;p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0" name="Google Shape;190;p35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91" name="Google Shape;191;p35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2" name="Google Shape;192;p35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3" name="Google Shape;193;p3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32.xml"/><Relationship Id="rId9" Type="http://schemas.openxmlformats.org/officeDocument/2006/relationships/slideLayout" Target="../slideLayouts/slideLayout31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5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7" name="Google Shape;127;p2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8" name="Google Shape;128;p25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9" name="Google Shape;129;p25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0" name="Google Shape;130;p2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.png"/><Relationship Id="rId4" Type="http://schemas.openxmlformats.org/officeDocument/2006/relationships/image" Target="../media/image9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" name="Google Shape;198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9421" y="172281"/>
            <a:ext cx="6965156" cy="842963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36"/>
          <p:cNvSpPr txBox="1"/>
          <p:nvPr/>
        </p:nvSpPr>
        <p:spPr>
          <a:xfrm>
            <a:off x="1278731" y="3931376"/>
            <a:ext cx="6775847" cy="53091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1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Domain</a:t>
            </a:r>
            <a:r>
              <a:rPr b="1" i="0" lang="en" sz="12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: </a:t>
            </a:r>
            <a:r>
              <a:rPr b="1" i="0" lang="en" sz="21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ML</a:t>
            </a:r>
            <a:br>
              <a:rPr b="0" i="0" lang="en" sz="9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" sz="9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 b="0" i="0" sz="9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0" name="Google Shape;200;p36"/>
          <p:cNvSpPr txBox="1"/>
          <p:nvPr>
            <p:ph idx="1" type="subTitle"/>
          </p:nvPr>
        </p:nvSpPr>
        <p:spPr>
          <a:xfrm>
            <a:off x="1142999" y="1569161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04800" lvl="0" marL="34290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" sz="27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22IT703 – PROJECT - I</a:t>
            </a:r>
            <a:endParaRPr/>
          </a:p>
        </p:txBody>
      </p:sp>
      <p:sp>
        <p:nvSpPr>
          <p:cNvPr id="201" name="Google Shape;201;p36"/>
          <p:cNvSpPr txBox="1"/>
          <p:nvPr>
            <p:ph type="ctrTitle"/>
          </p:nvPr>
        </p:nvSpPr>
        <p:spPr>
          <a:xfrm>
            <a:off x="1278731" y="1569161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</a:pPr>
            <a:r>
              <a:rPr b="1" lang="en" sz="30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Multi-Module Digital Well-Being and Addiction Risk Management System </a:t>
            </a:r>
            <a:endParaRPr b="1" sz="300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7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3300"/>
              <a:buNone/>
            </a:pPr>
            <a:r>
              <a:rPr b="1" lang="en">
                <a:solidFill>
                  <a:srgbClr val="00B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Multi-Module Digital Well-Being and Addiction Risk Management System </a:t>
            </a:r>
            <a:endParaRPr>
              <a:solidFill>
                <a:srgbClr val="00B0F0"/>
              </a:solidFill>
            </a:endParaRPr>
          </a:p>
        </p:txBody>
      </p:sp>
      <p:sp>
        <p:nvSpPr>
          <p:cNvPr id="207" name="Google Shape;207;p37"/>
          <p:cNvSpPr txBox="1"/>
          <p:nvPr>
            <p:ph idx="12" type="sldNum"/>
          </p:nvPr>
        </p:nvSpPr>
        <p:spPr>
          <a:xfrm>
            <a:off x="6457950" y="4767263"/>
            <a:ext cx="2057400" cy="273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8" name="Google Shape;208;p37"/>
          <p:cNvSpPr txBox="1"/>
          <p:nvPr/>
        </p:nvSpPr>
        <p:spPr>
          <a:xfrm>
            <a:off x="2286000" y="2456334"/>
            <a:ext cx="4572000" cy="23083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37"/>
          <p:cNvSpPr txBox="1"/>
          <p:nvPr/>
        </p:nvSpPr>
        <p:spPr>
          <a:xfrm>
            <a:off x="628650" y="1370409"/>
            <a:ext cx="7886700" cy="240268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" sz="21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TEAM MEMBERS</a:t>
            </a:r>
            <a:endParaRPr sz="1100"/>
          </a:p>
          <a:p>
            <a:pPr indent="0" lvl="0" marL="0" marR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" sz="21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HARIHARAN A T  – 727722EUIT064</a:t>
            </a:r>
            <a:endParaRPr sz="1100"/>
          </a:p>
          <a:p>
            <a:pPr indent="0" lvl="0" marL="0" marR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" sz="21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HEDEN JONES A   – 727722EUIT066</a:t>
            </a:r>
            <a:endParaRPr sz="1100"/>
          </a:p>
          <a:p>
            <a:pPr indent="0" lvl="0" marL="0" marR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" sz="21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HELVIN ROSEN A – 727722EUIT067</a:t>
            </a:r>
            <a:endParaRPr sz="1100"/>
          </a:p>
        </p:txBody>
      </p:sp>
      <p:sp>
        <p:nvSpPr>
          <p:cNvPr id="210" name="Google Shape;210;p37"/>
          <p:cNvSpPr txBox="1"/>
          <p:nvPr/>
        </p:nvSpPr>
        <p:spPr>
          <a:xfrm>
            <a:off x="6549887" y="3720152"/>
            <a:ext cx="1648721" cy="76174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GUIDED BY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Mr. S Shivashankar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Assistant Professor</a:t>
            </a:r>
            <a:endParaRPr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8"/>
          <p:cNvSpPr txBox="1"/>
          <p:nvPr/>
        </p:nvSpPr>
        <p:spPr>
          <a:xfrm>
            <a:off x="1913309" y="572836"/>
            <a:ext cx="4570784" cy="57705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n" sz="3300" u="none" cap="none" strike="noStrike">
                <a:solidFill>
                  <a:srgbClr val="00B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ABSTRACT</a:t>
            </a:r>
            <a:endParaRPr b="1" i="0" sz="3300" u="none" cap="none" strike="noStrike">
              <a:solidFill>
                <a:srgbClr val="00B0F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6" name="Google Shape;216;p38"/>
          <p:cNvSpPr txBox="1"/>
          <p:nvPr>
            <p:ph idx="12" type="sldNum"/>
          </p:nvPr>
        </p:nvSpPr>
        <p:spPr>
          <a:xfrm>
            <a:off x="6457950" y="4767263"/>
            <a:ext cx="2057400" cy="273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7" name="Google Shape;217;p38"/>
          <p:cNvSpPr/>
          <p:nvPr/>
        </p:nvSpPr>
        <p:spPr>
          <a:xfrm>
            <a:off x="385141" y="1119143"/>
            <a:ext cx="8373718" cy="345152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-10795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</a:pPr>
            <a:r>
              <a:rPr b="1" i="0" lang="en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Objective:</a:t>
            </a:r>
            <a:r>
              <a:rPr b="0" i="0" lang="en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Predict the risk level of smartphone addiction among teenagers.</a:t>
            </a:r>
            <a:endParaRPr sz="1100"/>
          </a:p>
          <a:p>
            <a:pPr indent="-10795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</a:pPr>
            <a:r>
              <a:rPr b="1" i="0" lang="en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Data:</a:t>
            </a:r>
            <a:r>
              <a:rPr b="0" i="0" lang="en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Smartphone usage patterns, lifestyle factors, and psychological indicators.</a:t>
            </a:r>
            <a:endParaRPr sz="1100"/>
          </a:p>
          <a:p>
            <a:pPr indent="-10795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</a:pPr>
            <a:r>
              <a:rPr b="1" i="0" lang="en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Baseline Models:</a:t>
            </a:r>
            <a:r>
              <a:rPr b="0" i="0" lang="en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Decision Tree, Random Forest, and XGBoost for initial prediction.</a:t>
            </a:r>
            <a:endParaRPr sz="1100"/>
          </a:p>
          <a:p>
            <a:pPr indent="-10795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</a:pPr>
            <a:r>
              <a:rPr b="1" i="0" lang="en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Optimization:</a:t>
            </a:r>
            <a:r>
              <a:rPr b="0" i="0" lang="en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Use Grey Wolf Optimizer (GWO) and Sand Cat Optimization (SCO) for feature selection and hyperparameter tuning.</a:t>
            </a:r>
            <a:endParaRPr sz="1100"/>
          </a:p>
          <a:p>
            <a:pPr indent="-10795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</a:pPr>
            <a:r>
              <a:rPr b="1" i="0" lang="en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Deep Learning:</a:t>
            </a:r>
            <a:r>
              <a:rPr b="0" i="0" lang="en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Apply Bi-LSTM to capture temporal patterns in smartphone usage.</a:t>
            </a:r>
            <a:endParaRPr sz="1100"/>
          </a:p>
          <a:p>
            <a:pPr indent="-10795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</a:pPr>
            <a:r>
              <a:rPr b="1" i="0" lang="en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Outcome:</a:t>
            </a:r>
            <a:r>
              <a:rPr b="0" i="0" lang="en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Compare traditional ML, optimized models, and Bi-LSTM for highest accuracy.</a:t>
            </a:r>
            <a:endParaRPr sz="1100"/>
          </a:p>
          <a:p>
            <a:pPr indent="-10795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</a:pPr>
            <a:r>
              <a:rPr b="1" i="0" lang="en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Application:</a:t>
            </a:r>
            <a:r>
              <a:rPr b="0" i="0" lang="en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Foundation for a self-diagnostic app to help students, parents, and educators monitor and manage smartphone addiction.</a:t>
            </a:r>
            <a:endParaRPr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9"/>
          <p:cNvSpPr txBox="1"/>
          <p:nvPr/>
        </p:nvSpPr>
        <p:spPr>
          <a:xfrm>
            <a:off x="1528763" y="509192"/>
            <a:ext cx="6115050" cy="57705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n" sz="3300" u="none" cap="none" strike="noStrike">
                <a:solidFill>
                  <a:srgbClr val="00B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</a:t>
            </a:r>
            <a:r>
              <a:rPr b="1" i="0" lang="en" sz="2100" u="none" cap="none" strike="noStrike">
                <a:solidFill>
                  <a:srgbClr val="00B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i="0" lang="en" sz="3300" u="none" cap="none" strike="noStrike">
                <a:solidFill>
                  <a:srgbClr val="00B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DEFINITION</a:t>
            </a:r>
            <a:endParaRPr b="1" i="0" sz="3300" u="none" cap="none" strike="noStrike">
              <a:solidFill>
                <a:srgbClr val="00B0F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3" name="Google Shape;223;p39"/>
          <p:cNvSpPr txBox="1"/>
          <p:nvPr>
            <p:ph idx="12" type="sldNum"/>
          </p:nvPr>
        </p:nvSpPr>
        <p:spPr>
          <a:xfrm>
            <a:off x="6457950" y="4767263"/>
            <a:ext cx="2057400" cy="273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4" name="Google Shape;224;p39"/>
          <p:cNvSpPr txBox="1"/>
          <p:nvPr/>
        </p:nvSpPr>
        <p:spPr>
          <a:xfrm>
            <a:off x="633620" y="1393963"/>
            <a:ext cx="7819500" cy="19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254000" lvl="0" marL="2540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Smartphones have become an essential part of teenagers’ daily life, but excessive usage has led to addiction-like behaviors.</a:t>
            </a:r>
            <a:endParaRPr sz="1100"/>
          </a:p>
          <a:p>
            <a:pPr indent="-254000" lvl="2" marL="2540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Existing methods to detect smartphone addiction rely mostly on </a:t>
            </a:r>
            <a:r>
              <a:rPr b="1" i="0" lang="en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self-reported surveys</a:t>
            </a:r>
            <a:r>
              <a:rPr b="0" i="0" lang="en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which are </a:t>
            </a:r>
            <a:r>
              <a:rPr b="1" i="0" lang="en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subjective and time-consuming</a:t>
            </a:r>
            <a:r>
              <a:rPr b="0" i="0" lang="en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100"/>
          </a:p>
          <a:p>
            <a:pPr indent="-254000" lvl="2" marL="2540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There is a need for an </a:t>
            </a:r>
            <a:r>
              <a:rPr b="1" i="0" lang="en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automated, data-driven system</a:t>
            </a:r>
            <a:r>
              <a:rPr b="0" i="0" lang="en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that can </a:t>
            </a:r>
            <a:r>
              <a:rPr b="1" i="0" lang="en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analyze smartphone usage patterns</a:t>
            </a:r>
            <a:r>
              <a:rPr b="0" i="0" lang="en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</a:t>
            </a:r>
            <a:r>
              <a:rPr b="1" i="0" lang="en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predict addiction risk accurately</a:t>
            </a:r>
            <a:r>
              <a:rPr b="0" i="0" lang="en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b="0"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4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">
                <a:solidFill>
                  <a:srgbClr val="00B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OBJECTIVES OF THE PROJECTS</a:t>
            </a:r>
            <a:endParaRPr/>
          </a:p>
        </p:txBody>
      </p:sp>
      <p:sp>
        <p:nvSpPr>
          <p:cNvPr id="230" name="Google Shape;230;p40"/>
          <p:cNvSpPr txBox="1"/>
          <p:nvPr>
            <p:ph idx="1" type="body"/>
          </p:nvPr>
        </p:nvSpPr>
        <p:spPr>
          <a:xfrm>
            <a:off x="628650" y="996501"/>
            <a:ext cx="7886700" cy="326350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54000" lvl="0" marL="342900" rtl="0" algn="just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</a:pPr>
            <a:r>
              <a:rPr b="1" lang="en" sz="1500">
                <a:latin typeface="Times New Roman"/>
                <a:ea typeface="Times New Roman"/>
                <a:cs typeface="Times New Roman"/>
                <a:sym typeface="Times New Roman"/>
              </a:rPr>
              <a:t>Analyze Data: </a:t>
            </a: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Collect and analyze smartphone usage patterns, lifestyle factors, and psychological indicators of teenagers.</a:t>
            </a:r>
            <a:endParaRPr/>
          </a:p>
          <a:p>
            <a:pPr indent="-254000" lvl="0" marL="342900" rtl="0" algn="just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</a:pPr>
            <a:r>
              <a:rPr b="1" lang="en" sz="1500">
                <a:latin typeface="Times New Roman"/>
                <a:ea typeface="Times New Roman"/>
                <a:cs typeface="Times New Roman"/>
                <a:sym typeface="Times New Roman"/>
              </a:rPr>
              <a:t>Developed Predictive Models: </a:t>
            </a: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Implement Decision Tree, Random Forest, and XGBoost models to classify normal vs. high-risk users.</a:t>
            </a:r>
            <a:endParaRPr/>
          </a:p>
          <a:p>
            <a:pPr indent="-254000" lvl="0" marL="342900" rtl="0" algn="just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</a:pPr>
            <a:r>
              <a:rPr b="1" lang="en" sz="1500">
                <a:latin typeface="Times New Roman"/>
                <a:ea typeface="Times New Roman"/>
                <a:cs typeface="Times New Roman"/>
                <a:sym typeface="Times New Roman"/>
              </a:rPr>
              <a:t>Deep Learning: </a:t>
            </a: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Employ BiLSTM to capture temporal and sequential patterns in smartphone usage behavior.</a:t>
            </a:r>
            <a:endParaRPr/>
          </a:p>
          <a:p>
            <a:pPr indent="-254000" lvl="0" marL="342900" rtl="0" algn="just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</a:pPr>
            <a:r>
              <a:rPr b="1" lang="en" sz="1500">
                <a:latin typeface="Times New Roman"/>
                <a:ea typeface="Times New Roman"/>
                <a:cs typeface="Times New Roman"/>
                <a:sym typeface="Times New Roman"/>
              </a:rPr>
              <a:t>Compare Models: </a:t>
            </a: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Evaluate and compare the performance of traditional ML, optimized models, and BiLSTM for highest prediction accuracy.</a:t>
            </a:r>
            <a:endParaRPr/>
          </a:p>
          <a:p>
            <a:pPr indent="-254000" lvl="0" marL="342900" rtl="0" algn="just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</a:pPr>
            <a:r>
              <a:rPr b="1" lang="en" sz="1500">
                <a:latin typeface="Times New Roman"/>
                <a:ea typeface="Times New Roman"/>
                <a:cs typeface="Times New Roman"/>
                <a:sym typeface="Times New Roman"/>
              </a:rPr>
              <a:t>Build Foundation for Application: </a:t>
            </a: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Provide a framework for a self-diagnostic application to help students, parents, and educators monitor and manage smartphone addiction risks.</a:t>
            </a:r>
            <a:endParaRPr/>
          </a:p>
        </p:txBody>
      </p:sp>
      <p:sp>
        <p:nvSpPr>
          <p:cNvPr id="231" name="Google Shape;231;p40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41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237" name="Google Shape;237;p41"/>
          <p:cNvGraphicFramePr/>
          <p:nvPr/>
        </p:nvGraphicFramePr>
        <p:xfrm>
          <a:off x="279918" y="93451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{B7894136-BBB9-4F0C-8CB7-220454C649B2}</a:tableStyleId>
              </a:tblPr>
              <a:tblGrid>
                <a:gridCol w="2736775"/>
                <a:gridCol w="2160600"/>
                <a:gridCol w="1512425"/>
                <a:gridCol w="1008275"/>
                <a:gridCol w="1224350"/>
              </a:tblGrid>
              <a:tr h="433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References Title</a:t>
                      </a:r>
                      <a:endParaRPr b="1"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4300" marB="34300" marR="68600" marL="68600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Authors</a:t>
                      </a:r>
                      <a:endParaRPr b="1"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4300" marB="34300" marR="68600" marL="68600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Feature Extraction Methodology</a:t>
                      </a:r>
                      <a:endParaRPr b="1"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4300" marB="34300" marR="68600" marL="68600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Datasets</a:t>
                      </a:r>
                      <a:endParaRPr b="1"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4300" marB="34300" marR="68600" marL="68600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Demerits</a:t>
                      </a:r>
                      <a:endParaRPr b="1"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4300" marB="34300" marR="68600" marL="68600">
                    <a:solidFill>
                      <a:schemeClr val="lt2"/>
                    </a:solidFill>
                  </a:tcPr>
                </a:tc>
              </a:tr>
            </a:tbl>
          </a:graphicData>
        </a:graphic>
      </p:graphicFrame>
      <p:sp>
        <p:nvSpPr>
          <p:cNvPr id="238" name="Google Shape;238;p41"/>
          <p:cNvSpPr txBox="1"/>
          <p:nvPr/>
        </p:nvSpPr>
        <p:spPr>
          <a:xfrm>
            <a:off x="1609531" y="223935"/>
            <a:ext cx="5892281" cy="39241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" sz="2100" u="none" cap="none" strike="noStrike">
                <a:solidFill>
                  <a:srgbClr val="00B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LITERATURE SURVEY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39" name="Google Shape;239;p41"/>
          <p:cNvGraphicFramePr/>
          <p:nvPr/>
        </p:nvGraphicFramePr>
        <p:xfrm>
          <a:off x="279918" y="162778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{B7894136-BBB9-4F0C-8CB7-220454C649B2}</a:tableStyleId>
              </a:tblPr>
              <a:tblGrid>
                <a:gridCol w="2739075"/>
                <a:gridCol w="2169200"/>
                <a:gridCol w="1505775"/>
                <a:gridCol w="1021225"/>
                <a:gridCol w="1207125"/>
              </a:tblGrid>
              <a:tr h="1421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u="none" cap="none" strike="noStrike"/>
                        <a:t>Smartphone addiction prediction using machine learning techniques</a:t>
                      </a:r>
                      <a:endParaRPr sz="15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M. Dave, K. Patel</a:t>
                      </a:r>
                      <a:endParaRPr b="0"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 u="none" cap="none" strike="noStrike"/>
                        <a:t>Self-Report Question:</a:t>
                      </a:r>
                      <a:endParaRPr b="0" sz="11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1100" u="none" cap="none" strike="noStrike"/>
                        <a:t>Frequency of use, Emotional dependance, Withdrawal symptoms, Functional impairment</a:t>
                      </a:r>
                      <a:endParaRPr b="0" sz="11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u="none" cap="none" strike="noStrike"/>
                        <a:t>Clinical Populations, Online Panels</a:t>
                      </a:r>
                      <a:endParaRPr sz="11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u="none" cap="none" strike="noStrike"/>
                        <a:t>Self Report Bias, Cultural Bias, Overlapping Constructs </a:t>
                      </a:r>
                      <a:endParaRPr sz="1100"/>
                    </a:p>
                  </a:txBody>
                  <a:tcPr marT="34300" marB="34300" marR="68600" marL="68600"/>
                </a:tc>
              </a:tr>
              <a:tr h="1287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u="none" cap="none" strike="noStrike"/>
                        <a:t>Machine learning models for predicting smartphone usage patterns among teenagers</a:t>
                      </a:r>
                      <a:endParaRPr sz="15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cap="none" strike="noStrike"/>
                        <a:t>N. Sharma, R. Verma</a:t>
                      </a:r>
                      <a:endParaRPr sz="15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 u="none" cap="none" strike="noStrike"/>
                        <a:t>Metadata Features</a:t>
                      </a:r>
                      <a:r>
                        <a:rPr lang="en" sz="1100" u="none" cap="none" strike="noStrike"/>
                        <a:t> </a:t>
                      </a:r>
                      <a:r>
                        <a:rPr i="0" lang="en" sz="1100" u="none" cap="none" strike="noStrike"/>
                        <a:t>Usage Logs, Self Reported Surveys, Sensor data, textual data</a:t>
                      </a:r>
                      <a:endParaRPr sz="1100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u="none" cap="none" strike="noStrike"/>
                        <a:t>Global Mobile Phone addiction dataset</a:t>
                      </a:r>
                      <a:endParaRPr sz="11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" sz="1100" u="none" cap="none" strike="noStrike"/>
                        <a:t>Data privacy and ethical concerns, Psychological impact of misclassification</a:t>
                      </a:r>
                      <a:endParaRPr b="0" sz="1100" u="none" cap="none" strike="noStrike"/>
                    </a:p>
                  </a:txBody>
                  <a:tcPr marT="34300" marB="34300" marR="68600" marL="68600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42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3300"/>
              <a:buFont typeface="Times New Roman"/>
              <a:buNone/>
            </a:pPr>
            <a:r>
              <a:rPr b="1" lang="en" sz="3300">
                <a:solidFill>
                  <a:srgbClr val="00B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EXISTING SYSTEM </a:t>
            </a:r>
            <a:br>
              <a:rPr b="1" lang="en" sz="3300">
                <a:solidFill>
                  <a:srgbClr val="00B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/>
          </a:p>
        </p:txBody>
      </p:sp>
      <p:sp>
        <p:nvSpPr>
          <p:cNvPr id="245" name="Google Shape;245;p42"/>
          <p:cNvSpPr txBox="1"/>
          <p:nvPr>
            <p:ph idx="1" type="body"/>
          </p:nvPr>
        </p:nvSpPr>
        <p:spPr>
          <a:xfrm>
            <a:off x="628650" y="791965"/>
            <a:ext cx="7886700" cy="39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254000" lvl="0" marL="5207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15900" lvl="0" marL="3937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b="1" lang="en" sz="1400">
                <a:latin typeface="Times New Roman"/>
                <a:ea typeface="Times New Roman"/>
                <a:cs typeface="Times New Roman"/>
                <a:sym typeface="Times New Roman"/>
              </a:rPr>
              <a:t>Traditional Surveys: </a:t>
            </a: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urrent methods rely on self-reported questionnaires and surveys.</a:t>
            </a:r>
            <a:endParaRPr sz="1400"/>
          </a:p>
          <a:p>
            <a:pPr indent="-215900" lvl="0" marL="3937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</a:pPr>
            <a:r>
              <a:rPr b="1" lang="en" sz="1400">
                <a:latin typeface="Times New Roman"/>
                <a:ea typeface="Times New Roman"/>
                <a:cs typeface="Times New Roman"/>
                <a:sym typeface="Times New Roman"/>
              </a:rPr>
              <a:t>Basic Statistical Analysis: </a:t>
            </a: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Existing studies typically use descriptive statistics or simple regression to find correlations between smartphone usage and psychological factors.</a:t>
            </a:r>
            <a:endParaRPr sz="1400"/>
          </a:p>
          <a:p>
            <a:pPr indent="-215900" lvl="0" marL="3937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</a:pPr>
            <a:r>
              <a:rPr b="1" lang="en" sz="1400">
                <a:latin typeface="Times New Roman"/>
                <a:ea typeface="Times New Roman"/>
                <a:cs typeface="Times New Roman"/>
                <a:sym typeface="Times New Roman"/>
              </a:rPr>
              <a:t>Limited</a:t>
            </a: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" sz="1400">
                <a:latin typeface="Times New Roman"/>
                <a:ea typeface="Times New Roman"/>
                <a:cs typeface="Times New Roman"/>
                <a:sym typeface="Times New Roman"/>
              </a:rPr>
              <a:t>Machine Learning Use: </a:t>
            </a: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machine learning (Decision Trees, XG Boost, Random Forest) without advanced optimization or deep learning.</a:t>
            </a:r>
            <a:endParaRPr sz="1400"/>
          </a:p>
          <a:p>
            <a:pPr indent="-215900" lvl="0" marL="3937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</a:pPr>
            <a:r>
              <a:rPr b="1" lang="en" sz="1400">
                <a:latin typeface="Times New Roman"/>
                <a:ea typeface="Times New Roman"/>
                <a:cs typeface="Times New Roman"/>
                <a:sym typeface="Times New Roman"/>
              </a:rPr>
              <a:t>Manual Feature Selection: </a:t>
            </a: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acking optimization techniques like GWO.</a:t>
            </a:r>
            <a:endParaRPr sz="1400"/>
          </a:p>
          <a:p>
            <a:pPr indent="-273050" lvl="0" marL="393700" rtl="0" algn="just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2300"/>
              <a:buChar char="•"/>
            </a:pPr>
            <a:r>
              <a:rPr b="1" lang="en" sz="1400">
                <a:latin typeface="Times New Roman"/>
                <a:ea typeface="Times New Roman"/>
                <a:cs typeface="Times New Roman"/>
                <a:sym typeface="Times New Roman"/>
              </a:rPr>
              <a:t>No Temporal Analysis: </a:t>
            </a: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Current approaches rarely capture the sequential or time-based nature of smartphone usage patterns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6" name="Google Shape;246;p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43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3300"/>
              <a:buFont typeface="Times New Roman"/>
              <a:buNone/>
            </a:pPr>
            <a:r>
              <a:rPr b="1" lang="en" sz="3300">
                <a:solidFill>
                  <a:srgbClr val="00B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PROPOSED SYSTEM</a:t>
            </a:r>
            <a:br>
              <a:rPr b="1" lang="en" sz="3300">
                <a:solidFill>
                  <a:srgbClr val="00B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/>
          </a:p>
        </p:txBody>
      </p:sp>
      <p:sp>
        <p:nvSpPr>
          <p:cNvPr id="252" name="Google Shape;252;p43"/>
          <p:cNvSpPr txBox="1"/>
          <p:nvPr>
            <p:ph idx="1" type="body"/>
          </p:nvPr>
        </p:nvSpPr>
        <p:spPr>
          <a:xfrm>
            <a:off x="471945" y="896988"/>
            <a:ext cx="8200200" cy="39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36550" lvl="0" marL="457200" rtl="0" algn="just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700"/>
              <a:buFont typeface="Times New Roman"/>
              <a:buChar char="•"/>
            </a:pPr>
            <a:r>
              <a:rPr b="1" lang="en" sz="1700">
                <a:latin typeface="Times New Roman"/>
                <a:ea typeface="Times New Roman"/>
                <a:cs typeface="Times New Roman"/>
                <a:sym typeface="Times New Roman"/>
              </a:rPr>
              <a:t>Data</a:t>
            </a:r>
            <a:r>
              <a:rPr b="1" lang="en" sz="1700">
                <a:latin typeface="Times New Roman"/>
                <a:ea typeface="Times New Roman"/>
                <a:cs typeface="Times New Roman"/>
                <a:sym typeface="Times New Roman"/>
              </a:rPr>
              <a:t> Collection: </a:t>
            </a: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Collect detailed smartphone usage patterns, lifestyle factors, and psychological indicators from teenagers.</a:t>
            </a:r>
            <a:endParaRPr/>
          </a:p>
          <a:p>
            <a:pPr indent="-33655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Font typeface="Times New Roman"/>
              <a:buChar char="•"/>
            </a:pPr>
            <a:r>
              <a:rPr b="1" lang="en" sz="1700">
                <a:latin typeface="Times New Roman"/>
                <a:ea typeface="Times New Roman"/>
                <a:cs typeface="Times New Roman"/>
                <a:sym typeface="Times New Roman"/>
              </a:rPr>
              <a:t>Feature Selection Optimization: </a:t>
            </a: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Grey Wolf Optimizer (GWO) to identify most relevant features and reduce irrelevant data.</a:t>
            </a:r>
            <a:endParaRPr/>
          </a:p>
          <a:p>
            <a:pPr indent="-33655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Font typeface="Times New Roman"/>
              <a:buChar char="•"/>
            </a:pPr>
            <a:r>
              <a:rPr b="1" lang="en" sz="1700">
                <a:latin typeface="Times New Roman"/>
                <a:ea typeface="Times New Roman"/>
                <a:cs typeface="Times New Roman"/>
                <a:sym typeface="Times New Roman"/>
              </a:rPr>
              <a:t>Hyperparameter Tuning: </a:t>
            </a: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Apply GWO to optimize Bi-LSTM parameters for enhanced model accuracy.</a:t>
            </a:r>
            <a:endParaRPr/>
          </a:p>
          <a:p>
            <a:pPr indent="-33655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Font typeface="Times New Roman"/>
              <a:buChar char="•"/>
            </a:pPr>
            <a:r>
              <a:rPr b="1" lang="en" sz="1700">
                <a:latin typeface="Times New Roman"/>
                <a:ea typeface="Times New Roman"/>
                <a:cs typeface="Times New Roman"/>
                <a:sym typeface="Times New Roman"/>
              </a:rPr>
              <a:t>Training using Dataset: </a:t>
            </a: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Trains the model with 70% data. 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Font typeface="Times New Roman"/>
              <a:buChar char="•"/>
            </a:pPr>
            <a:r>
              <a:rPr b="1" lang="en" sz="1700">
                <a:latin typeface="Times New Roman"/>
                <a:ea typeface="Times New Roman"/>
                <a:cs typeface="Times New Roman"/>
                <a:sym typeface="Times New Roman"/>
              </a:rPr>
              <a:t>Final Prediction: </a:t>
            </a: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Uses the trained model to </a:t>
            </a: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predict</a:t>
            </a: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 the addiction rate of the rest.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27000" lvl="0" marL="3937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3" name="Google Shape;253;p4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4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45454"/>
              <a:buNone/>
            </a:pPr>
            <a:r>
              <a:rPr b="1" lang="en">
                <a:solidFill>
                  <a:srgbClr val="00B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TOOLS, TECHNOLOGIES AND DATASETS PLANNNED</a:t>
            </a:r>
            <a:br>
              <a:rPr lang="en">
                <a:solidFill>
                  <a:srgbClr val="00B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solidFill>
                <a:srgbClr val="00B0F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9" name="Google Shape;259;p44"/>
          <p:cNvSpPr txBox="1"/>
          <p:nvPr>
            <p:ph idx="1" type="body"/>
          </p:nvPr>
        </p:nvSpPr>
        <p:spPr>
          <a:xfrm>
            <a:off x="628650" y="11537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1" marL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rPr b="1" lang="en" sz="1500">
                <a:latin typeface="Times New Roman"/>
                <a:ea typeface="Times New Roman"/>
                <a:cs typeface="Times New Roman"/>
                <a:sym typeface="Times New Roman"/>
              </a:rPr>
              <a:t>HARDWARE REQUIREMENT:</a:t>
            </a:r>
            <a:endParaRPr b="1"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Times New Roman"/>
              <a:buChar char="•"/>
            </a:pP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" sz="1500">
                <a:latin typeface="Times New Roman"/>
                <a:ea typeface="Times New Roman"/>
                <a:cs typeface="Times New Roman"/>
                <a:sym typeface="Times New Roman"/>
              </a:rPr>
              <a:t>Processor Type: </a:t>
            </a: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AMD Ryzen 7 Processor or Intel i5 Processor.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Font typeface="Times New Roman"/>
              <a:buChar char="•"/>
            </a:pP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" sz="1500">
                <a:latin typeface="Times New Roman"/>
                <a:ea typeface="Times New Roman"/>
                <a:cs typeface="Times New Roman"/>
                <a:sym typeface="Times New Roman"/>
              </a:rPr>
              <a:t>Speed:</a:t>
            </a: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 4.40 GHz 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Font typeface="Times New Roman"/>
              <a:buChar char="•"/>
            </a:pPr>
            <a:r>
              <a:rPr b="1" lang="en" sz="1500">
                <a:latin typeface="Times New Roman"/>
                <a:ea typeface="Times New Roman"/>
                <a:cs typeface="Times New Roman"/>
                <a:sym typeface="Times New Roman"/>
              </a:rPr>
              <a:t> RAM:</a:t>
            </a: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 16 GB 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Font typeface="Times New Roman"/>
              <a:buChar char="•"/>
            </a:pPr>
            <a:r>
              <a:rPr b="1" lang="en" sz="1500">
                <a:latin typeface="Times New Roman"/>
                <a:ea typeface="Times New Roman"/>
                <a:cs typeface="Times New Roman"/>
                <a:sym typeface="Times New Roman"/>
              </a:rPr>
              <a:t> Hard Disk:</a:t>
            </a: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 1 TB 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Font typeface="Times New Roman"/>
              <a:buChar char="•"/>
            </a:pPr>
            <a:r>
              <a:rPr b="1" lang="en" sz="1500">
                <a:latin typeface="Times New Roman"/>
                <a:ea typeface="Times New Roman"/>
                <a:cs typeface="Times New Roman"/>
                <a:sym typeface="Times New Roman"/>
              </a:rPr>
              <a:t> Keyboard:</a:t>
            </a: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 101/102 Standard Keys 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Font typeface="Times New Roman"/>
              <a:buChar char="•"/>
            </a:pPr>
            <a:r>
              <a:rPr b="1" lang="en" sz="1500">
                <a:latin typeface="Times New Roman"/>
                <a:ea typeface="Times New Roman"/>
                <a:cs typeface="Times New Roman"/>
                <a:sym typeface="Times New Roman"/>
              </a:rPr>
              <a:t> Mouse: </a:t>
            </a: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Optical Mouse 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65100" lvl="1" marL="685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1" marL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rPr b="1" lang="en" sz="1500">
                <a:latin typeface="Times New Roman"/>
                <a:ea typeface="Times New Roman"/>
                <a:cs typeface="Times New Roman"/>
                <a:sym typeface="Times New Roman"/>
              </a:rPr>
              <a:t>SOFTWARE REQUIREMENT:</a:t>
            </a: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Times New Roman"/>
              <a:buChar char="•"/>
            </a:pPr>
            <a:r>
              <a:rPr b="1" lang="en" sz="1500">
                <a:latin typeface="Times New Roman"/>
                <a:ea typeface="Times New Roman"/>
                <a:cs typeface="Times New Roman"/>
                <a:sym typeface="Times New Roman"/>
              </a:rPr>
              <a:t>Operating System: </a:t>
            </a: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Windows 10 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Font typeface="Times New Roman"/>
              <a:buChar char="•"/>
            </a:pPr>
            <a:r>
              <a:rPr b="1" lang="en" sz="1500">
                <a:latin typeface="Times New Roman"/>
                <a:ea typeface="Times New Roman"/>
                <a:cs typeface="Times New Roman"/>
                <a:sym typeface="Times New Roman"/>
              </a:rPr>
              <a:t>Front End:</a:t>
            </a: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 VS Code 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Font typeface="Times New Roman"/>
              <a:buChar char="•"/>
            </a:pPr>
            <a:r>
              <a:rPr b="1" lang="en" sz="1500">
                <a:latin typeface="Times New Roman"/>
                <a:ea typeface="Times New Roman"/>
                <a:cs typeface="Times New Roman"/>
                <a:sym typeface="Times New Roman"/>
              </a:rPr>
              <a:t>Coding Language:</a:t>
            </a: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 Python (Version 11.0.0 and above)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" sz="1500">
                <a:latin typeface="Times New Roman"/>
                <a:ea typeface="Times New Roman"/>
                <a:cs typeface="Times New Roman"/>
                <a:sym typeface="Times New Roman"/>
              </a:rPr>
              <a:t>DATASET SOURCE:</a:t>
            </a:r>
            <a:endParaRPr b="1"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Times New Roman"/>
              <a:buChar char="•"/>
            </a:pP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Kaggle 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0" name="Google Shape;260;p4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45"/>
          <p:cNvSpPr txBox="1"/>
          <p:nvPr>
            <p:ph type="title"/>
          </p:nvPr>
        </p:nvSpPr>
        <p:spPr>
          <a:xfrm>
            <a:off x="628650" y="178569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">
                <a:solidFill>
                  <a:srgbClr val="00B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MODULES</a:t>
            </a:r>
            <a:endParaRPr/>
          </a:p>
        </p:txBody>
      </p:sp>
      <p:sp>
        <p:nvSpPr>
          <p:cNvPr id="266" name="Google Shape;266;p45"/>
          <p:cNvSpPr txBox="1"/>
          <p:nvPr>
            <p:ph idx="1" type="body"/>
          </p:nvPr>
        </p:nvSpPr>
        <p:spPr>
          <a:xfrm>
            <a:off x="742951" y="939998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54000" lvl="0" marL="3429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b="1" lang="en" sz="1500">
                <a:latin typeface="Times New Roman"/>
                <a:ea typeface="Times New Roman"/>
                <a:cs typeface="Times New Roman"/>
                <a:sym typeface="Times New Roman"/>
              </a:rPr>
              <a:t>Dataset Preparation: </a:t>
            </a: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Start with a structured dataset of smartphone usage patterns and behavioral sequences.</a:t>
            </a:r>
            <a:endParaRPr/>
          </a:p>
          <a:p>
            <a:pPr indent="-254000" lvl="0" marL="3429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</a:pPr>
            <a:r>
              <a:rPr b="1" lang="en" sz="1500">
                <a:latin typeface="Times New Roman"/>
                <a:ea typeface="Times New Roman"/>
                <a:cs typeface="Times New Roman"/>
                <a:sym typeface="Times New Roman"/>
              </a:rPr>
              <a:t>Feature Engineering: </a:t>
            </a: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Refine features or transform data into time-series sequences suitable for BiLSTM input.</a:t>
            </a:r>
            <a:endParaRPr/>
          </a:p>
          <a:p>
            <a:pPr indent="-254000" lvl="0" marL="3429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</a:pPr>
            <a:r>
              <a:rPr b="1" lang="en" sz="1500">
                <a:latin typeface="Times New Roman"/>
                <a:ea typeface="Times New Roman"/>
                <a:cs typeface="Times New Roman"/>
                <a:sym typeface="Times New Roman"/>
              </a:rPr>
              <a:t>Feature Selection (GWO): </a:t>
            </a: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Apply Grey Wolf Optimizer to extract the most relevant features, improving accuracy and reducing noise.</a:t>
            </a:r>
            <a:endParaRPr/>
          </a:p>
          <a:p>
            <a:pPr indent="-254000" lvl="0" marL="3429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</a:pPr>
            <a:r>
              <a:rPr b="1" lang="en" sz="1500">
                <a:latin typeface="Times New Roman"/>
                <a:ea typeface="Times New Roman"/>
                <a:cs typeface="Times New Roman"/>
                <a:sym typeface="Times New Roman"/>
              </a:rPr>
              <a:t>BiLSTM Training: </a:t>
            </a: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Train a Bidirectional LSTM model on selected features to capture complex temporal patterns.</a:t>
            </a:r>
            <a:endParaRPr/>
          </a:p>
          <a:p>
            <a:pPr indent="-254000" lvl="0" marL="3429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</a:pPr>
            <a:r>
              <a:rPr b="1" lang="en" sz="1500">
                <a:latin typeface="Times New Roman"/>
                <a:ea typeface="Times New Roman"/>
                <a:cs typeface="Times New Roman"/>
                <a:sym typeface="Times New Roman"/>
              </a:rPr>
              <a:t>Risk Prediction: </a:t>
            </a: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Output the addiction risk level (e.g., 1: </a:t>
            </a:r>
            <a:r>
              <a:rPr i="1" lang="en" sz="1500">
                <a:latin typeface="Times New Roman"/>
                <a:ea typeface="Times New Roman"/>
                <a:cs typeface="Times New Roman"/>
                <a:sym typeface="Times New Roman"/>
              </a:rPr>
              <a:t>high risk</a:t>
            </a: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 or 0: </a:t>
            </a:r>
            <a:r>
              <a:rPr i="1" lang="en" sz="1500">
                <a:latin typeface="Times New Roman"/>
                <a:ea typeface="Times New Roman"/>
                <a:cs typeface="Times New Roman"/>
                <a:sym typeface="Times New Roman"/>
              </a:rPr>
              <a:t>normal</a:t>
            </a: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).</a:t>
            </a:r>
            <a:endParaRPr/>
          </a:p>
        </p:txBody>
      </p:sp>
      <p:sp>
        <p:nvSpPr>
          <p:cNvPr id="267" name="Google Shape;267;p4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46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" sz="2400">
                <a:solidFill>
                  <a:srgbClr val="00B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FLOW DIAGRAM</a:t>
            </a:r>
            <a:endParaRPr/>
          </a:p>
        </p:txBody>
      </p:sp>
      <p:sp>
        <p:nvSpPr>
          <p:cNvPr id="273" name="Google Shape;273;p46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74" name="Google Shape;274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39339" y="1141559"/>
            <a:ext cx="4919963" cy="32499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47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en">
                <a:solidFill>
                  <a:srgbClr val="00B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PERFORMANCE EVALUATION</a:t>
            </a:r>
            <a:endParaRPr/>
          </a:p>
        </p:txBody>
      </p:sp>
      <p:sp>
        <p:nvSpPr>
          <p:cNvPr id="280" name="Google Shape;280;p47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i="1" lang="en" sz="1600">
                <a:latin typeface="Times New Roman"/>
                <a:ea typeface="Times New Roman"/>
                <a:cs typeface="Times New Roman"/>
                <a:sym typeface="Times New Roman"/>
              </a:rPr>
              <a:t>Performance comparison between Bi-LSTM and GWO</a:t>
            </a:r>
            <a:endParaRPr i="1" sz="2300"/>
          </a:p>
        </p:txBody>
      </p:sp>
      <p:pic>
        <p:nvPicPr>
          <p:cNvPr id="281" name="Google Shape;281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75425" y="1856175"/>
            <a:ext cx="7016074" cy="2289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48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00B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PERFORMANCE EVALUATION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48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139700" marR="36830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latin typeface="Arial"/>
                <a:ea typeface="Arial"/>
                <a:cs typeface="Arial"/>
                <a:sym typeface="Arial"/>
              </a:rPr>
              <a:t>Model Accuracy vs. Epochs</a:t>
            </a:r>
            <a:endParaRPr b="1"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3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88" name="Google Shape;288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52625" y="1768100"/>
            <a:ext cx="5095298" cy="2864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49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00B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PERFORMANCE EVALUATION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49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400">
                <a:latin typeface="Times New Roman"/>
                <a:ea typeface="Times New Roman"/>
                <a:cs typeface="Times New Roman"/>
                <a:sym typeface="Times New Roman"/>
              </a:rPr>
              <a:t>Model Loss vs. Epochs</a:t>
            </a:r>
            <a:endParaRPr/>
          </a:p>
        </p:txBody>
      </p:sp>
      <p:pic>
        <p:nvPicPr>
          <p:cNvPr id="295" name="Google Shape;295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85703" y="1701413"/>
            <a:ext cx="5172599" cy="3146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50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B0F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B0F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3333"/>
              <a:buFont typeface="Arial"/>
              <a:buNone/>
            </a:pPr>
            <a:r>
              <a:rPr b="1" lang="en">
                <a:solidFill>
                  <a:srgbClr val="00B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PERFORMANCE EVALUATION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3333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50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latin typeface="Arial"/>
                <a:ea typeface="Arial"/>
                <a:cs typeface="Arial"/>
                <a:sym typeface="Arial"/>
              </a:rPr>
              <a:t>Receiver Operating Characteristic</a:t>
            </a:r>
            <a:endParaRPr b="1"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02" name="Google Shape;302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23501" y="1799926"/>
            <a:ext cx="4697001" cy="2727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5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">
                <a:solidFill>
                  <a:srgbClr val="00B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/>
          </a:p>
        </p:txBody>
      </p:sp>
      <p:sp>
        <p:nvSpPr>
          <p:cNvPr id="308" name="Google Shape;308;p51"/>
          <p:cNvSpPr txBox="1"/>
          <p:nvPr>
            <p:ph idx="1" type="body"/>
          </p:nvPr>
        </p:nvSpPr>
        <p:spPr>
          <a:xfrm>
            <a:off x="628650" y="1333124"/>
            <a:ext cx="7886700" cy="326350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77500" lnSpcReduction="20000"/>
          </a:bodyPr>
          <a:lstStyle/>
          <a:p>
            <a:pPr indent="-258603" lvl="0" marL="3429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90476"/>
              <a:buChar char="•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This model has successfully established a foundational pipeline for predicting smartphone addiction by leveraging both classical machine learning and deep learning approaches.-</a:t>
            </a:r>
            <a:endParaRPr/>
          </a:p>
          <a:p>
            <a:pPr indent="-258603" lvl="0" marL="3429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ct val="90476"/>
              <a:buChar char="•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The project trained a classical Decision Tree model with hyperparameter tuning to establish a strong baseline. </a:t>
            </a:r>
            <a:endParaRPr/>
          </a:p>
          <a:p>
            <a:pPr indent="-258603" lvl="0" marL="3429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ct val="90476"/>
              <a:buChar char="•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An advanced Bi-directional LSTM (Bi-LSTM) model was built and trained, demonstrating superior performance in capturing temporal behavioral patterns associated with addiction.</a:t>
            </a:r>
            <a:endParaRPr/>
          </a:p>
          <a:p>
            <a:pPr indent="-258603" lvl="0" marL="3429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ct val="90476"/>
              <a:buChar char="•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Initial results show the Bi-LSTM achieving an accuracy of approximately </a:t>
            </a:r>
            <a:r>
              <a:rPr i="1" lang="en">
                <a:latin typeface="Times New Roman"/>
                <a:ea typeface="Times New Roman"/>
                <a:cs typeface="Times New Roman"/>
                <a:sym typeface="Times New Roman"/>
              </a:rPr>
              <a:t>83%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latin typeface="Times New Roman"/>
                <a:ea typeface="Times New Roman"/>
                <a:cs typeface="Times New Roman"/>
                <a:sym typeface="Times New Roman"/>
              </a:rPr>
              <a:t>(approx..),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validating the suitability of sequence models.</a:t>
            </a:r>
            <a:endParaRPr/>
          </a:p>
          <a:p>
            <a:pPr indent="-258603" lvl="0" marL="342900" rtl="0" algn="just">
              <a:lnSpc>
                <a:spcPct val="115000"/>
              </a:lnSpc>
              <a:spcBef>
                <a:spcPts val="800"/>
              </a:spcBef>
              <a:spcAft>
                <a:spcPts val="1000"/>
              </a:spcAft>
              <a:buSzPct val="90476"/>
              <a:buChar char="•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With the classification report we get the precision, recall &amp; f1-score.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9" name="Google Shape;309;p51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52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en">
                <a:solidFill>
                  <a:srgbClr val="00B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</a:t>
            </a:r>
            <a:endParaRPr b="1">
              <a:solidFill>
                <a:srgbClr val="00B0F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52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16" name="Google Shape;316;p52"/>
          <p:cNvPicPr preferRelativeResize="0"/>
          <p:nvPr/>
        </p:nvPicPr>
        <p:blipFill rotWithShape="1">
          <a:blip r:embed="rId3">
            <a:alphaModFix/>
          </a:blip>
          <a:srcRect b="17802" l="0" r="0" t="-1107"/>
          <a:stretch/>
        </p:blipFill>
        <p:spPr>
          <a:xfrm>
            <a:off x="2557400" y="1749798"/>
            <a:ext cx="4129125" cy="241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53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">
                <a:solidFill>
                  <a:srgbClr val="00B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</a:t>
            </a:r>
            <a:endParaRPr b="1">
              <a:solidFill>
                <a:srgbClr val="00B0F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2" name="Google Shape;322;p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23" name="Google Shape;323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22525" y="1189741"/>
            <a:ext cx="6153149" cy="3515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53"/>
          <p:cNvPicPr preferRelativeResize="0"/>
          <p:nvPr/>
        </p:nvPicPr>
        <p:blipFill rotWithShape="1">
          <a:blip r:embed="rId4">
            <a:alphaModFix/>
          </a:blip>
          <a:srcRect b="0" l="0" r="0" t="78214"/>
          <a:stretch/>
        </p:blipFill>
        <p:spPr>
          <a:xfrm>
            <a:off x="1860625" y="3914375"/>
            <a:ext cx="6076950" cy="79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54"/>
          <p:cNvSpPr txBox="1"/>
          <p:nvPr>
            <p:ph type="title"/>
          </p:nvPr>
        </p:nvSpPr>
        <p:spPr>
          <a:xfrm>
            <a:off x="628650" y="73031"/>
            <a:ext cx="7886700" cy="607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3300"/>
              <a:buFont typeface="Times New Roman"/>
              <a:buNone/>
            </a:pPr>
            <a:r>
              <a:rPr b="1" lang="en" sz="3300">
                <a:solidFill>
                  <a:srgbClr val="00B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endParaRPr/>
          </a:p>
        </p:txBody>
      </p:sp>
      <p:sp>
        <p:nvSpPr>
          <p:cNvPr id="330" name="Google Shape;330;p54"/>
          <p:cNvSpPr txBox="1"/>
          <p:nvPr>
            <p:ph idx="1" type="body"/>
          </p:nvPr>
        </p:nvSpPr>
        <p:spPr>
          <a:xfrm>
            <a:off x="431100" y="940050"/>
            <a:ext cx="82818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889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None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[1]	Aggarwal, S., et al. (2022). Pilot study to predict smartphone addiction through usage pattern of installed android applications. Addicta: The Turkish Journal on Addictions, 9(1), 63-74. Addicta - April 2022. 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889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None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[2] 	Arora, A., et al. (2022). Intelligent Model for Smartphone Addiction Assessment. Daffodil International University Repository. DIU Thesis. 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889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None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[3]	Chollet, F. (2021). Deep Learning with Python (2nd Edition). Manning Publications. 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889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None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[4]	Emary, E., Zawbaa, H. M., &amp; Hassanien, A. E. (2016).Binary grey wolf optimization approaches for feature selection.Neurocomputing, 172, 371–381.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889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None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[5]	Fawakherji, X., Syed, A., &amp; Ma, L. (2022). Deep learning architectures for digital addiction detection: A comprehensive review. IEEE Access, 10, 48798-48812. 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889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889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1" name="Google Shape;331;p5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55"/>
          <p:cNvSpPr txBox="1"/>
          <p:nvPr>
            <p:ph idx="12" type="sldNum"/>
          </p:nvPr>
        </p:nvSpPr>
        <p:spPr>
          <a:xfrm>
            <a:off x="6457950" y="4694306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7" name="Google Shape;337;p55"/>
          <p:cNvSpPr txBox="1"/>
          <p:nvPr/>
        </p:nvSpPr>
        <p:spPr>
          <a:xfrm>
            <a:off x="2939498" y="1827353"/>
            <a:ext cx="3518452" cy="62324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6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 </a:t>
            </a:r>
            <a:endParaRPr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